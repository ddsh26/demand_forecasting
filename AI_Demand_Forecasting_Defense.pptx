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12B0A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620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28-day rolling mean</c:v>
                  </c:pt>
                  <c:pt idx="1">
                    <c:v>All other 35 features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73.6</c:v>
                </c:pt>
                <c:pt idx="1">
                  <c:v>26.4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620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620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b"/>
        <c:majorGridlines>
          <c:spPr>
            <a:ln w="6350" cap="flat">
              <a:solidFill>
                <a:srgbClr val="E6ED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Greeting + topic. Keep intro under 4 minutes. Speak calmly, this is the hook.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Traditional methods assume linear, stable patterns; real demand is non-linear. Errors cost money both ways: overstock vs stockout.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Gap 1: accuracy not linked to cost. Gap 2: most research stops at experiments, no deployable system. My work closes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aim and the central RQ, then the three objectives. End of intro ~4:00. Transition: 'let me walk you through how the system was built.'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Emphasise this is the whole workflow, not just a model. Feature engineering is the most important step (next slide).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Real, complex retail data. A representative subset was used for efficiency but the structure mirrors full complexity.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groups, 36 features. Stress lags and rolling statistics — they encode demand momentum and are the strongest predictors.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design choice = time-based split (no leakage). Metrics: MAE interpretable, RMSE punishes big misses.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MAE/RMSE slowly. RF and GB tie; chose RF for robustness. Small train-test gap = no overfitting.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28-day rolling mean ~73.6% importance. Business takeaway: keep recent sales data clean. Consistent with time-series theory.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precise: no full financial simulation — this is a conceptual estimate from the predictive results + literature. Honesty here is a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Strongest 75 seconds. Describe the architecture confidently — this is the practical contribution and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as genuine industry interest and a planned pilot. Strengthens practical relevance.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contributions: methodological (ensembles + feature engineering) and practical (deployable system).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limitations confidently, without apologising — sign of a mature researcher.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the one-line takeaway, thank the committee,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920240"/>
            <a:ext cx="5120640" cy="5120640"/>
          </a:xfrm>
          <a:prstGeom prst="ellipse">
            <a:avLst/>
          </a:prstGeom>
          <a:solidFill>
            <a:srgbClr val="173A5E"/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206240"/>
            <a:ext cx="3840480" cy="3840480"/>
          </a:xfrm>
          <a:prstGeom prst="ellipse">
            <a:avLst/>
          </a:prstGeom>
          <a:solidFill>
            <a:srgbClr val="173A5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77240"/>
            <a:ext cx="868680" cy="868680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817" y="1003097"/>
            <a:ext cx="416966" cy="4169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1828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THESIS DEFENSE  ·  MBA, ARTIFICIAL INTELLIGENCE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22960" y="224028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Artificial Intelligence in Demand Forecasting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Forecasting Accuracy and Reducing Supply Chain Costs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868680" y="4434840"/>
            <a:ext cx="3108960" cy="0"/>
          </a:xfrm>
          <a:prstGeom prst="line">
            <a:avLst/>
          </a:prstGeom>
          <a:noFill/>
          <a:ln w="25400">
            <a:solidFill>
              <a:srgbClr val="12B0A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46177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Dadash Alakbarov Islam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E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UNEC Business School  ·  Supervisor: [Ad Soyad]  · 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676656" cy="676656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859" y="678851"/>
            <a:ext cx="324795" cy="3247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463040" y="71323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Forecasting errors are expensive in both directions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691640"/>
            <a:ext cx="3657600" cy="4297680"/>
          </a:xfrm>
          <a:prstGeom prst="roundRect">
            <a:avLst>
              <a:gd name="adj" fmla="val 2250"/>
            </a:avLst>
          </a:prstGeom>
          <a:solidFill>
            <a:srgbClr val="0F2A47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1965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22960" y="228600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forecasting drives inventory, production and logistics.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22960" y="416052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BF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thin-margin retail, even small errors become large financial losses.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4572000" y="1691640"/>
            <a:ext cx="704088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64608" y="2148840"/>
            <a:ext cx="914400" cy="914400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2386584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035040" y="207568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Over-forecasting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6035040" y="256032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 inventory — capital tied up, higher holding and warehousing costs.</a:t>
            </a:r>
            <a:endParaRPr lang="en-US" sz="1550" dirty="0"/>
          </a:p>
        </p:txBody>
      </p:sp>
      <p:sp>
        <p:nvSpPr>
          <p:cNvPr id="15" name="Shape 11"/>
          <p:cNvSpPr/>
          <p:nvPr/>
        </p:nvSpPr>
        <p:spPr>
          <a:xfrm>
            <a:off x="4572000" y="3931920"/>
            <a:ext cx="704088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864608" y="4389120"/>
            <a:ext cx="914400" cy="914400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4626864"/>
            <a:ext cx="438912" cy="4389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035040" y="431596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Under-forecasting</a:t>
            </a:r>
            <a:endParaRPr lang="en-US" sz="2100" dirty="0"/>
          </a:p>
        </p:txBody>
      </p:sp>
      <p:sp>
        <p:nvSpPr>
          <p:cNvPr id="19" name="Text 14"/>
          <p:cNvSpPr/>
          <p:nvPr/>
        </p:nvSpPr>
        <p:spPr>
          <a:xfrm>
            <a:off x="6035040" y="480060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Stockouts on the shelf — lost sales and damaged customer trust.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676656" cy="676656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859" y="678851"/>
            <a:ext cx="324795" cy="3247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463040" y="71323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gaps in the existing research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82880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78408" y="2240280"/>
            <a:ext cx="868680" cy="868680"/>
          </a:xfrm>
          <a:prstGeom prst="ellipse">
            <a:avLst/>
          </a:prstGeom>
          <a:solidFill>
            <a:srgbClr val="0F2A47"/>
          </a:solidFill>
          <a:ln/>
        </p:spPr>
      </p:sp>
      <p:sp>
        <p:nvSpPr>
          <p:cNvPr id="8" name="Text 5"/>
          <p:cNvSpPr/>
          <p:nvPr/>
        </p:nvSpPr>
        <p:spPr>
          <a:xfrm>
            <a:off x="978408" y="22402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B0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978408" y="33832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is rarely linked to cost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978408" y="434340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studies optimise forecasting accuracy as a goal in itself — and stop short of connecting it to real supply chain cost reduction.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217920" y="182880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29400" y="2240280"/>
            <a:ext cx="868680" cy="868680"/>
          </a:xfrm>
          <a:prstGeom prst="ellipse">
            <a:avLst/>
          </a:prstGeom>
          <a:solidFill>
            <a:srgbClr val="0F2A47"/>
          </a:solidFill>
          <a:ln/>
        </p:spPr>
      </p:sp>
      <p:sp>
        <p:nvSpPr>
          <p:cNvPr id="13" name="Text 10"/>
          <p:cNvSpPr/>
          <p:nvPr/>
        </p:nvSpPr>
        <p:spPr>
          <a:xfrm>
            <a:off x="6629400" y="22402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B0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6629400" y="33832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rarely become systems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629400" y="434340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usually ends at comparing models in an experiment. Very few deliver a complete, deployable tool that can run in real operations.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676656" cy="676656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859" y="678851"/>
            <a:ext cx="324795" cy="3247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&amp; RESEARCH QUESTION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463040" y="71323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it, evaluate it, and link accuracy to cost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7830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0F2A47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938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68680" y="221284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can AI techniques be applied to demand forecasting to improve accuracy and reduce supply chain costs?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566928" y="3429000"/>
            <a:ext cx="347472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86968" y="3776472"/>
            <a:ext cx="841248" cy="841248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692" y="3995196"/>
            <a:ext cx="403799" cy="40379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14400" y="47274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E8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914400" y="50017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 &amp; compare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914400" y="540410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benchmark several machine-learning models on real retail data.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288536" y="3429000"/>
            <a:ext cx="347472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608576" y="3776472"/>
            <a:ext cx="841248" cy="841248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7300" y="3995196"/>
            <a:ext cx="403799" cy="40379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636008" y="47274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E8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4636008" y="50017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&amp; interpret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4636008" y="540410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established accuracy metrics and analyse which features drive demand.</a:t>
            </a:r>
            <a:endParaRPr lang="en-US" sz="1350" dirty="0"/>
          </a:p>
        </p:txBody>
      </p:sp>
      <p:sp>
        <p:nvSpPr>
          <p:cNvPr id="21" name="Shape 16"/>
          <p:cNvSpPr/>
          <p:nvPr/>
        </p:nvSpPr>
        <p:spPr>
          <a:xfrm>
            <a:off x="8010144" y="3429000"/>
            <a:ext cx="347472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330184" y="3776472"/>
            <a:ext cx="841248" cy="841248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8908" y="3995196"/>
            <a:ext cx="403799" cy="40379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357616" y="47274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E8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8357616" y="50017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8357616" y="540410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the best model as a production-ready API and interactive dashboard.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676656" cy="676656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859" y="678851"/>
            <a:ext cx="324795" cy="3247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463040" y="71323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end-to-end pipeline from raw data to deployment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2468880"/>
            <a:ext cx="1584960" cy="2286000"/>
          </a:xfrm>
          <a:prstGeom prst="roundRect">
            <a:avLst>
              <a:gd name="adj" fmla="val 519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38784" y="2761488"/>
            <a:ext cx="841248" cy="841248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7508" y="2980212"/>
            <a:ext cx="403799" cy="40379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12648" y="3749040"/>
            <a:ext cx="149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650" dirty="0"/>
          </a:p>
        </p:txBody>
      </p:sp>
      <p:sp>
        <p:nvSpPr>
          <p:cNvPr id="10" name="Text 6"/>
          <p:cNvSpPr/>
          <p:nvPr/>
        </p:nvSpPr>
        <p:spPr>
          <a:xfrm>
            <a:off x="612648" y="4133088"/>
            <a:ext cx="149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M5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2115312" y="2926080"/>
            <a:ext cx="402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8"/>
          <p:cNvSpPr/>
          <p:nvPr/>
        </p:nvSpPr>
        <p:spPr>
          <a:xfrm>
            <a:off x="2462784" y="2468880"/>
            <a:ext cx="1584960" cy="2286000"/>
          </a:xfrm>
          <a:prstGeom prst="roundRect">
            <a:avLst>
              <a:gd name="adj" fmla="val 519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834640" y="2761488"/>
            <a:ext cx="841248" cy="841248"/>
          </a:xfrm>
          <a:prstGeom prst="ellipse">
            <a:avLst/>
          </a:prstGeom>
          <a:solidFill>
            <a:srgbClr val="0F2A47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3364" y="2980212"/>
            <a:ext cx="403799" cy="40379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508504" y="3749040"/>
            <a:ext cx="149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</a:t>
            </a:r>
            <a:endParaRPr lang="en-US" sz="1650" dirty="0"/>
          </a:p>
        </p:txBody>
      </p:sp>
      <p:sp>
        <p:nvSpPr>
          <p:cNvPr id="16" name="Text 11"/>
          <p:cNvSpPr/>
          <p:nvPr/>
        </p:nvSpPr>
        <p:spPr>
          <a:xfrm>
            <a:off x="2508504" y="4133088"/>
            <a:ext cx="149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reshape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4011168" y="2926080"/>
            <a:ext cx="402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3"/>
          <p:cNvSpPr/>
          <p:nvPr/>
        </p:nvSpPr>
        <p:spPr>
          <a:xfrm>
            <a:off x="4358640" y="2468880"/>
            <a:ext cx="1584960" cy="2286000"/>
          </a:xfrm>
          <a:prstGeom prst="roundRect">
            <a:avLst>
              <a:gd name="adj" fmla="val 519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730496" y="2761488"/>
            <a:ext cx="841248" cy="841248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9220" y="2980212"/>
            <a:ext cx="403799" cy="403799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404360" y="3749040"/>
            <a:ext cx="149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</a:t>
            </a:r>
            <a:endParaRPr lang="en-US" sz="1650" dirty="0"/>
          </a:p>
        </p:txBody>
      </p:sp>
      <p:sp>
        <p:nvSpPr>
          <p:cNvPr id="22" name="Text 16"/>
          <p:cNvSpPr/>
          <p:nvPr/>
        </p:nvSpPr>
        <p:spPr>
          <a:xfrm>
            <a:off x="4404360" y="4133088"/>
            <a:ext cx="149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engineered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5907024" y="2926080"/>
            <a:ext cx="402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4" name="Shape 18"/>
          <p:cNvSpPr/>
          <p:nvPr/>
        </p:nvSpPr>
        <p:spPr>
          <a:xfrm>
            <a:off x="6254496" y="2468880"/>
            <a:ext cx="1584960" cy="2286000"/>
          </a:xfrm>
          <a:prstGeom prst="roundRect">
            <a:avLst>
              <a:gd name="adj" fmla="val 519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6626352" y="2761488"/>
            <a:ext cx="841248" cy="841248"/>
          </a:xfrm>
          <a:prstGeom prst="ellipse">
            <a:avLst/>
          </a:prstGeom>
          <a:solidFill>
            <a:srgbClr val="0F2A47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5076" y="2980212"/>
            <a:ext cx="403799" cy="403799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300216" y="3749040"/>
            <a:ext cx="149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</a:t>
            </a:r>
            <a:endParaRPr lang="en-US" sz="1650" dirty="0"/>
          </a:p>
        </p:txBody>
      </p:sp>
      <p:sp>
        <p:nvSpPr>
          <p:cNvPr id="28" name="Text 21"/>
          <p:cNvSpPr/>
          <p:nvPr/>
        </p:nvSpPr>
        <p:spPr>
          <a:xfrm>
            <a:off x="6300216" y="4133088"/>
            <a:ext cx="149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3 models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7802880" y="2926080"/>
            <a:ext cx="402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30" name="Shape 23"/>
          <p:cNvSpPr/>
          <p:nvPr/>
        </p:nvSpPr>
        <p:spPr>
          <a:xfrm>
            <a:off x="8150352" y="2468880"/>
            <a:ext cx="1584960" cy="2286000"/>
          </a:xfrm>
          <a:prstGeom prst="roundRect">
            <a:avLst>
              <a:gd name="adj" fmla="val 519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522208" y="2761488"/>
            <a:ext cx="841248" cy="841248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0932" y="2980212"/>
            <a:ext cx="403799" cy="403799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196072" y="3749040"/>
            <a:ext cx="149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</a:t>
            </a:r>
            <a:endParaRPr lang="en-US" sz="1650" dirty="0"/>
          </a:p>
        </p:txBody>
      </p:sp>
      <p:sp>
        <p:nvSpPr>
          <p:cNvPr id="34" name="Text 26"/>
          <p:cNvSpPr/>
          <p:nvPr/>
        </p:nvSpPr>
        <p:spPr>
          <a:xfrm>
            <a:off x="8196072" y="4133088"/>
            <a:ext cx="149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&amp; RMSE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9698736" y="2926080"/>
            <a:ext cx="402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36" name="Shape 28"/>
          <p:cNvSpPr/>
          <p:nvPr/>
        </p:nvSpPr>
        <p:spPr>
          <a:xfrm>
            <a:off x="10046208" y="2468880"/>
            <a:ext cx="1584960" cy="2286000"/>
          </a:xfrm>
          <a:prstGeom prst="roundRect">
            <a:avLst>
              <a:gd name="adj" fmla="val 519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10418064" y="2761488"/>
            <a:ext cx="841248" cy="841248"/>
          </a:xfrm>
          <a:prstGeom prst="ellipse">
            <a:avLst/>
          </a:prstGeom>
          <a:solidFill>
            <a:srgbClr val="0F2A47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36788" y="2980212"/>
            <a:ext cx="403799" cy="403799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0091928" y="3749040"/>
            <a:ext cx="149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</a:t>
            </a:r>
            <a:endParaRPr lang="en-US" sz="1650" dirty="0"/>
          </a:p>
        </p:txBody>
      </p:sp>
      <p:sp>
        <p:nvSpPr>
          <p:cNvPr id="40" name="Text 31"/>
          <p:cNvSpPr/>
          <p:nvPr/>
        </p:nvSpPr>
        <p:spPr>
          <a:xfrm>
            <a:off x="10091928" y="4133088"/>
            <a:ext cx="149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dashboard</a:t>
            </a:r>
            <a:endParaRPr lang="en-US" sz="1250" dirty="0"/>
          </a:p>
        </p:txBody>
      </p:sp>
      <p:sp>
        <p:nvSpPr>
          <p:cNvPr id="41" name="Text 32"/>
          <p:cNvSpPr/>
          <p:nvPr/>
        </p:nvSpPr>
        <p:spPr>
          <a:xfrm>
            <a:off x="566928" y="5074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Quantitative, applied design — every stage reflects a real retail forecasting workflow.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676656" cy="676656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859" y="678851"/>
            <a:ext cx="324795" cy="3247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463040" y="71323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Walmart M5 — a real, industry-standard benchmark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96596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58368" y="237744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B0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3,049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58368" y="333756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products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355848" y="196596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447288" y="237744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B0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3447288" y="333756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· 3 US states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44768" y="196596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236208" y="237744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B0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~1,900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6236208" y="333756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(≈5 years)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933688" y="196596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025128" y="237744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B0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6.8M</a:t>
            </a:r>
            <a:endParaRPr lang="en-US" sz="4000" dirty="0"/>
          </a:p>
        </p:txBody>
      </p:sp>
      <p:sp>
        <p:nvSpPr>
          <p:cNvPr id="17" name="Text 14"/>
          <p:cNvSpPr/>
          <p:nvPr/>
        </p:nvSpPr>
        <p:spPr>
          <a:xfrm>
            <a:off x="9025128" y="333756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price records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4343400"/>
            <a:ext cx="11064240" cy="1600200"/>
          </a:xfrm>
          <a:prstGeom prst="roundRect">
            <a:avLst>
              <a:gd name="adj" fmla="val 5143"/>
            </a:avLst>
          </a:prstGeom>
          <a:solidFill>
            <a:srgbClr val="0F2A47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914400" y="4663440"/>
            <a:ext cx="914400" cy="914400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" y="4901184"/>
            <a:ext cx="438912" cy="43891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2103120" y="4572000"/>
            <a:ext cx="9235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raw sources — sales, calendar and pricing — were cleaned, merged on shared keys, missing prices imputed, and reshaped into long format: one row per product, store and day.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676656" cy="676656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859" y="678851"/>
            <a:ext cx="324795" cy="3247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463040" y="71323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raw sales into 36 learnable signals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783080"/>
            <a:ext cx="3584448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075688"/>
            <a:ext cx="713232" cy="713232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400" y="2261128"/>
            <a:ext cx="342351" cy="34235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0939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1709928" y="249631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of week, month, week, weekend flags — seasonality.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398264" y="1783080"/>
            <a:ext cx="3584448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075688"/>
            <a:ext cx="713232" cy="713232"/>
          </a:xfrm>
          <a:prstGeom prst="ellipse">
            <a:avLst/>
          </a:prstGeom>
          <a:solidFill>
            <a:srgbClr val="0F2A47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736" y="2261128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541264" y="20939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Lag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5541264" y="249631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1, 7, 14, 28 days ago — recent demand momentum.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229600" y="1783080"/>
            <a:ext cx="3584448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85632" y="2075688"/>
            <a:ext cx="713232" cy="713232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1072" y="2261128"/>
            <a:ext cx="342351" cy="34235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372600" y="20939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stats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9372600" y="249631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&amp; std over 7/14/28 days — trend and volatility.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66928" y="3685032"/>
            <a:ext cx="3584448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22960" y="3977640"/>
            <a:ext cx="713232" cy="713232"/>
          </a:xfrm>
          <a:prstGeom prst="ellipse">
            <a:avLst/>
          </a:prstGeom>
          <a:solidFill>
            <a:srgbClr val="0F2A47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400" y="4163080"/>
            <a:ext cx="342351" cy="342351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1709928" y="4398264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 and price changes — price sensitivity.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398264" y="3685032"/>
            <a:ext cx="3584448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654296" y="3977640"/>
            <a:ext cx="713232" cy="713232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9736" y="4163080"/>
            <a:ext cx="342351" cy="342351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541264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Events</a:t>
            </a:r>
            <a:endParaRPr lang="en-US" sz="1700" dirty="0"/>
          </a:p>
        </p:txBody>
      </p:sp>
      <p:sp>
        <p:nvSpPr>
          <p:cNvPr id="30" name="Text 22"/>
          <p:cNvSpPr/>
          <p:nvPr/>
        </p:nvSpPr>
        <p:spPr>
          <a:xfrm>
            <a:off x="5541264" y="4398264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Holidays, sporting, cultural and religious events.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229600" y="3685032"/>
            <a:ext cx="3584448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485632" y="3977640"/>
            <a:ext cx="713232" cy="713232"/>
          </a:xfrm>
          <a:prstGeom prst="ellipse">
            <a:avLst/>
          </a:prstGeom>
          <a:solidFill>
            <a:srgbClr val="0F2A47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71072" y="4163080"/>
            <a:ext cx="342351" cy="342351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372600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Economic</a:t>
            </a:r>
            <a:endParaRPr lang="en-US" sz="1700" dirty="0"/>
          </a:p>
        </p:txBody>
      </p:sp>
      <p:sp>
        <p:nvSpPr>
          <p:cNvPr id="35" name="Text 26"/>
          <p:cNvSpPr/>
          <p:nvPr/>
        </p:nvSpPr>
        <p:spPr>
          <a:xfrm>
            <a:off x="9372600" y="4398264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benefit days — a strong US retail demand driver.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566928" y="55321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i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is only as good as its inputs — feature engineering is the decisive accuracy driver.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676656" cy="676656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859" y="678851"/>
            <a:ext cx="324795" cy="3247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&amp; VALIDATION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463040" y="71323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models, spanning a range of complexity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7830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41248" y="20391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B0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" y="249631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 Regression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41248" y="2916936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interpretable baseline. Captures only linear relationships.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88536" y="17830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562856" y="20391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B0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4562856" y="249631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4562856" y="2916936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of decision trees. Strong on non-linear patterns; stable.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10144" y="17830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284464" y="20391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B0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8284464" y="249631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Boosting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84464" y="2916936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ensemble that corrects its own errors. Highly accurate.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06908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0F2A47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68680" y="4370832"/>
            <a:ext cx="777240" cy="777240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572914"/>
            <a:ext cx="373075" cy="373075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874520" y="42976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Time-based 80/20 split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1874520" y="473659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the past, test on the future — prevents data leakage and mirrors real forecasting.</a:t>
            </a:r>
            <a:endParaRPr lang="en-US" sz="1350" dirty="0"/>
          </a:p>
        </p:txBody>
      </p:sp>
      <p:sp>
        <p:nvSpPr>
          <p:cNvPr id="23" name="Shape 19"/>
          <p:cNvSpPr/>
          <p:nvPr/>
        </p:nvSpPr>
        <p:spPr>
          <a:xfrm>
            <a:off x="6236208" y="406908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0F2A47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537960" y="4370832"/>
            <a:ext cx="777240" cy="777240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0042" y="4572914"/>
            <a:ext cx="373075" cy="373075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7543800" y="42976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MAE &amp; RMSE</a:t>
            </a:r>
            <a:endParaRPr lang="en-US" sz="1800" dirty="0"/>
          </a:p>
        </p:txBody>
      </p:sp>
      <p:sp>
        <p:nvSpPr>
          <p:cNvPr id="27" name="Text 22"/>
          <p:cNvSpPr/>
          <p:nvPr/>
        </p:nvSpPr>
        <p:spPr>
          <a:xfrm>
            <a:off x="7543800" y="473659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= average error in real units (interpretable). RMSE penalises large errors more heavily.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676656" cy="676656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859" y="678851"/>
            <a:ext cx="324795" cy="3247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463040" y="71323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Ensembles win — Random Forest selected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74520"/>
          <a:ext cx="5852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MAE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RMSE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1.827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 ★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B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1.826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B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B0A0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66928" y="41605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8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model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566928" y="443484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— lowest test MAE, and more robust and easier to maintain than Gradient Boosting.</a:t>
            </a:r>
            <a:endParaRPr lang="en-US" sz="1550" dirty="0"/>
          </a:p>
        </p:txBody>
      </p:sp>
      <p:sp>
        <p:nvSpPr>
          <p:cNvPr id="9" name="Shape 5"/>
          <p:cNvSpPr/>
          <p:nvPr/>
        </p:nvSpPr>
        <p:spPr>
          <a:xfrm>
            <a:off x="6720840" y="1874520"/>
            <a:ext cx="489204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976872" y="2148840"/>
            <a:ext cx="658368" cy="658368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048" y="2320016"/>
            <a:ext cx="316017" cy="31601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818120" y="20756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Ensembles beat linear</a:t>
            </a:r>
            <a:endParaRPr lang="en-US" sz="1650" dirty="0"/>
          </a:p>
        </p:txBody>
      </p:sp>
      <p:sp>
        <p:nvSpPr>
          <p:cNvPr id="13" name="Text 8"/>
          <p:cNvSpPr/>
          <p:nvPr/>
        </p:nvSpPr>
        <p:spPr>
          <a:xfrm>
            <a:off x="7818120" y="244144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ensembles outperform Linear Regression — retail demand is non-linear.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6720840" y="3246120"/>
            <a:ext cx="489204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6976872" y="3520440"/>
            <a:ext cx="658368" cy="658368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048" y="3691616"/>
            <a:ext cx="316017" cy="316017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818120" y="3447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overfitting</a:t>
            </a:r>
            <a:endParaRPr lang="en-US" sz="1650" dirty="0"/>
          </a:p>
        </p:txBody>
      </p:sp>
      <p:sp>
        <p:nvSpPr>
          <p:cNvPr id="18" name="Text 12"/>
          <p:cNvSpPr/>
          <p:nvPr/>
        </p:nvSpPr>
        <p:spPr>
          <a:xfrm>
            <a:off x="7818120" y="381304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Train–test error gap is small for all models — they generalise well.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720840" y="4617720"/>
            <a:ext cx="489204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6976872" y="4892040"/>
            <a:ext cx="658368" cy="658368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8048" y="5063216"/>
            <a:ext cx="316017" cy="316017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818120" y="4818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Accurate AND robust</a:t>
            </a:r>
            <a:endParaRPr lang="en-US" sz="1650" dirty="0"/>
          </a:p>
        </p:txBody>
      </p:sp>
      <p:sp>
        <p:nvSpPr>
          <p:cNvPr id="23" name="Text 16"/>
          <p:cNvSpPr/>
          <p:nvPr/>
        </p:nvSpPr>
        <p:spPr>
          <a:xfrm>
            <a:off x="7818120" y="518464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is not just the most accurate — it is operationally reliable.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676656" cy="676656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859" y="678851"/>
            <a:ext cx="324795" cy="3247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INTERPRETING THE MODEL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463040" y="71323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demand history dominates</a:t>
            </a:r>
            <a:endParaRPr lang="en-US" sz="3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87452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269480" y="1874520"/>
            <a:ext cx="4343400" cy="3840480"/>
          </a:xfrm>
          <a:prstGeom prst="roundRect">
            <a:avLst>
              <a:gd name="adj" fmla="val 2143"/>
            </a:avLst>
          </a:prstGeom>
          <a:solidFill>
            <a:srgbClr val="0F2A47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498080" y="22402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B0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73.6%</a:t>
            </a:r>
            <a:endParaRPr lang="en-US" sz="4800" dirty="0"/>
          </a:p>
        </p:txBody>
      </p:sp>
      <p:sp>
        <p:nvSpPr>
          <p:cNvPr id="9" name="Text 5"/>
          <p:cNvSpPr/>
          <p:nvPr/>
        </p:nvSpPr>
        <p:spPr>
          <a:xfrm>
            <a:off x="7498080" y="32004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total importance comes from the 28-day rolling mean of sales.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498080" y="416052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features and short-term rolling averages follow. Past demand is the single best predictor of future demand — so data quality on recent sales matters most.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676656" cy="676656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859" y="678851"/>
            <a:ext cx="324795" cy="3247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463040" y="71323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accuracy to supply chain cost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828800"/>
            <a:ext cx="4023360" cy="4114800"/>
          </a:xfrm>
          <a:prstGeom prst="roundRect">
            <a:avLst>
              <a:gd name="adj" fmla="val 2045"/>
            </a:avLst>
          </a:prstGeom>
          <a:solidFill>
            <a:srgbClr val="0F2A47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41248" y="2103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ESTIMATE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804672" y="260604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15–25%</a:t>
            </a:r>
            <a:endParaRPr lang="en-US" sz="5600" dirty="0"/>
          </a:p>
        </p:txBody>
      </p:sp>
      <p:sp>
        <p:nvSpPr>
          <p:cNvPr id="9" name="Text 6"/>
          <p:cNvSpPr/>
          <p:nvPr/>
        </p:nvSpPr>
        <p:spPr>
          <a:xfrm>
            <a:off x="841248" y="384048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reduction in inventory-related supply chain costs in large retail operations.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4892040" y="1828800"/>
            <a:ext cx="672084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166360" y="2139696"/>
            <a:ext cx="658368" cy="658368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536" y="2310872"/>
            <a:ext cx="316017" cy="31601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035040" y="204825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accuracy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035040" y="2432304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 MAE (≈1.8 units) means demand is predicted with small deviation.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892040" y="3246120"/>
            <a:ext cx="672084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166360" y="3557016"/>
            <a:ext cx="658368" cy="658368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7536" y="3728192"/>
            <a:ext cx="316017" cy="31601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035040" y="346557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Fewer overstocks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035040" y="3849624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holding and warehousing costs from tighter inventory planning.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4892040" y="4663440"/>
            <a:ext cx="672084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166360" y="4974336"/>
            <a:ext cx="658368" cy="658368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7536" y="5145512"/>
            <a:ext cx="316017" cy="31601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035040" y="488289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Fewer stockouts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6035040" y="5266944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lost sales and a more reliable shelf for customers.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676656" cy="676656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859" y="678851"/>
            <a:ext cx="324795" cy="3247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RESEARCH TO PRODUCT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463040" y="71323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deployed, end-to-end forecasting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920240"/>
            <a:ext cx="347472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847088" y="2286000"/>
            <a:ext cx="914400" cy="914400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5237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9808" y="3337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model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749808" y="37947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Forest, serialised and ready for inference.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4059936" y="2834640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47472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568696" y="2286000"/>
            <a:ext cx="914400" cy="914400"/>
          </a:xfrm>
          <a:prstGeom prst="ellipse">
            <a:avLst/>
          </a:prstGeom>
          <a:solidFill>
            <a:srgbClr val="0F2A47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3744"/>
            <a:ext cx="438912" cy="43891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471416" y="3337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FastAPI REST API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4471416" y="37947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real-time predictions with sub-second responses.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7781544" y="2834640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3"/>
          <p:cNvSpPr/>
          <p:nvPr/>
        </p:nvSpPr>
        <p:spPr>
          <a:xfrm>
            <a:off x="8010144" y="1920240"/>
            <a:ext cx="347472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290304" y="2286000"/>
            <a:ext cx="914400" cy="914400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48" y="2523744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193024" y="3337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Interactive dashboard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8193024" y="37947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product, store, price, date — get an instant forecast.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566928" y="489204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0F2A47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868680" y="489204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E3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closes the gap identified at the start — the bridge between forecasting theory and real operational practice.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676656" cy="676656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859" y="678851"/>
            <a:ext cx="324795" cy="3247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VALIDATION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463040" y="71323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 interest from a Baku retailer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874520"/>
            <a:ext cx="5486400" cy="4069080"/>
          </a:xfrm>
          <a:prstGeom prst="roundRect">
            <a:avLst>
              <a:gd name="adj" fmla="val 202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194560"/>
            <a:ext cx="914400" cy="914400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432304"/>
            <a:ext cx="438912" cy="4389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65960" y="2240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Favorit Premium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1965960" y="2697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retail chain · Baku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914400" y="329184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in piloting the tool on real data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Willingness to share anonymised historical sales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Openness to discuss data terms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to allocate IT specialists for integration</a:t>
            </a:r>
            <a:endParaRPr lang="en-US" sz="1550" dirty="0"/>
          </a:p>
        </p:txBody>
      </p:sp>
      <p:sp>
        <p:nvSpPr>
          <p:cNvPr id="12" name="Shape 8"/>
          <p:cNvSpPr/>
          <p:nvPr/>
        </p:nvSpPr>
        <p:spPr>
          <a:xfrm>
            <a:off x="6236208" y="1874520"/>
            <a:ext cx="5394960" cy="4069080"/>
          </a:xfrm>
          <a:prstGeom prst="roundRect">
            <a:avLst>
              <a:gd name="adj" fmla="val 2022"/>
            </a:avLst>
          </a:prstGeom>
          <a:solidFill>
            <a:srgbClr val="0F2A47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53796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37960" y="256032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3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planned pilot moves the system beyond an academic experiment toward operational use — validating both the problem and the proposed solution in the local market.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6537960" y="475488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step: a scoping meeting to define the pilot data and success metrics.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676656" cy="676656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859" y="678851"/>
            <a:ext cx="324795" cy="3247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463040" y="71323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thesis adds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87452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78408" y="2286000"/>
            <a:ext cx="960120" cy="960120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039" y="2535631"/>
            <a:ext cx="460858" cy="46085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" y="34747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Methodological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78408" y="4069080"/>
            <a:ext cx="4617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evidence that ensemble ML outperforms traditional linear methods for retail demand, and that time-series feature engineering — lags and rolling statistics — is decisive for accuracy.</a:t>
            </a:r>
            <a:endParaRPr lang="en-US" sz="1550" dirty="0"/>
          </a:p>
        </p:txBody>
      </p:sp>
      <p:sp>
        <p:nvSpPr>
          <p:cNvPr id="11" name="Shape 7"/>
          <p:cNvSpPr/>
          <p:nvPr/>
        </p:nvSpPr>
        <p:spPr>
          <a:xfrm>
            <a:off x="6217920" y="187452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629400" y="2286000"/>
            <a:ext cx="960120" cy="960120"/>
          </a:xfrm>
          <a:prstGeom prst="ellipse">
            <a:avLst/>
          </a:prstGeom>
          <a:solidFill>
            <a:srgbClr val="0F2A47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9031" y="2535631"/>
            <a:ext cx="460858" cy="46085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629400" y="34747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</a:t>
            </a:r>
            <a:endParaRPr lang="en-US" sz="2300" dirty="0"/>
          </a:p>
        </p:txBody>
      </p:sp>
      <p:sp>
        <p:nvSpPr>
          <p:cNvPr id="15" name="Text 10"/>
          <p:cNvSpPr/>
          <p:nvPr/>
        </p:nvSpPr>
        <p:spPr>
          <a:xfrm>
            <a:off x="6629400" y="4069080"/>
            <a:ext cx="4617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deployable, end-to-end forecasting system — not just a model, but a working decision-support tool ready for real operational testing.</a:t>
            </a:r>
            <a:endParaRPr lang="en-US" sz="15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676656" cy="676656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859" y="678851"/>
            <a:ext cx="324795" cy="3247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ASSESSMENT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463040" y="71323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future work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874520"/>
            <a:ext cx="5394960" cy="4069080"/>
          </a:xfrm>
          <a:prstGeom prst="roundRect">
            <a:avLst>
              <a:gd name="adj" fmla="val 2022"/>
            </a:avLst>
          </a:prstGeom>
          <a:solidFill>
            <a:srgbClr val="FFFFFF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194560"/>
            <a:ext cx="777240" cy="777240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96642"/>
            <a:ext cx="373075" cy="3730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874520" y="22860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914400" y="3246120"/>
            <a:ext cx="4846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representative subset of the data was used</a:t>
            </a:r>
            <a:endParaRPr lang="en-US" sz="15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internal variables; external factors excluded</a:t>
            </a:r>
            <a:endParaRPr lang="en-US" sz="15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impact is conceptual, not a full simulation</a:t>
            </a:r>
            <a:endParaRPr lang="en-US" sz="15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but not yet integrated with ERP</a:t>
            </a:r>
            <a:endParaRPr lang="en-US" sz="1550" dirty="0"/>
          </a:p>
        </p:txBody>
      </p:sp>
      <p:sp>
        <p:nvSpPr>
          <p:cNvPr id="11" name="Shape 7"/>
          <p:cNvSpPr/>
          <p:nvPr/>
        </p:nvSpPr>
        <p:spPr>
          <a:xfrm>
            <a:off x="6236208" y="1874520"/>
            <a:ext cx="5394960" cy="4069080"/>
          </a:xfrm>
          <a:prstGeom prst="roundRect">
            <a:avLst>
              <a:gd name="adj" fmla="val 2022"/>
            </a:avLst>
          </a:prstGeom>
          <a:solidFill>
            <a:srgbClr val="0F2A47"/>
          </a:solidFill>
          <a:ln w="12700">
            <a:solidFill>
              <a:srgbClr val="D8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37960" y="2194560"/>
            <a:ext cx="777240" cy="777240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0042" y="2396642"/>
            <a:ext cx="373075" cy="37307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543800" y="22860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583680" y="3246120"/>
            <a:ext cx="4846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E3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models (LSTM, transformers)</a:t>
            </a:r>
            <a:endParaRPr lang="en-US" sz="15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E3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external data sources</a:t>
            </a:r>
            <a:endParaRPr lang="en-US" sz="15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E3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SHAP-based interpretability</a:t>
            </a:r>
            <a:endParaRPr lang="en-US" sz="15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E3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enterprise / ERP integration &amp; live pilot</a:t>
            </a:r>
            <a:endParaRPr lang="en-US" sz="15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4754880" cy="4754880"/>
          </a:xfrm>
          <a:prstGeom prst="ellipse">
            <a:avLst/>
          </a:prstGeom>
          <a:solidFill>
            <a:srgbClr val="173A5E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-1828800"/>
            <a:ext cx="4206240" cy="4206240"/>
          </a:xfrm>
          <a:prstGeom prst="ellipse">
            <a:avLst/>
          </a:prstGeom>
          <a:solidFill>
            <a:srgbClr val="173A5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868680"/>
            <a:ext cx="868680" cy="868680"/>
          </a:xfrm>
          <a:prstGeom prst="ellipse">
            <a:avLst/>
          </a:prstGeom>
          <a:solidFill>
            <a:srgbClr val="12B0A0"/>
          </a:solidFill>
          <a:ln/>
          <a:effectLst>
            <a:outerShdw sx="100000" sy="100000" kx="0" ky="0" algn="bl" rotWithShape="0" blurRad="114300" dist="38100" dir="5400000">
              <a:srgbClr val="0B1B2E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817" y="1094537"/>
            <a:ext cx="416966" cy="4169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1874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2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22960" y="224028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AI-based demand forecasting can meaningfully improve accuracy and support real cost reduction in modern supply chains.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868680" y="4114800"/>
            <a:ext cx="3108960" cy="0"/>
          </a:xfrm>
          <a:prstGeom prst="line">
            <a:avLst/>
          </a:prstGeom>
          <a:noFill/>
          <a:ln w="25400">
            <a:solidFill>
              <a:srgbClr val="12B0A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4343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attention.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41248" y="4937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AE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would be glad to answer your questions.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41248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E9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Dadash Alakbarov Islam  ·  UNEC Business School  ·  MBA, Artificial Intelligence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 Demand Forecasting</dc:title>
  <dc:subject>PptxGenJS Presentation</dc:subject>
  <dc:creator>Dadash Alakbarov</dc:creator>
  <cp:lastModifiedBy>Dadash Alakbarov</cp:lastModifiedBy>
  <cp:revision>1</cp:revision>
  <dcterms:created xsi:type="dcterms:W3CDTF">2026-06-23T12:51:54Z</dcterms:created>
  <dcterms:modified xsi:type="dcterms:W3CDTF">2026-06-23T12:51:54Z</dcterms:modified>
</cp:coreProperties>
</file>