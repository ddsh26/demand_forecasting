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2B0A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28-day rolling mean</c:v>
                </c:pt>
                <c:pt idx="1">
                  <c:v>All other 35 features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73.599999999999994</c:v>
                </c:pt>
                <c:pt idx="1">
                  <c:v>26.4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DF-40B8-877F-05C092ABCB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B"/>
                </a:solidFill>
                <a:latin typeface="Calibri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6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44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Greeting + topic. Keep intro under 4 minutes. Speak calmly, this is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methods assume linear, stable patterns; real demand is non-linear. Errors cost money both ways: overstock vs stockout.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1: accuracy not linked to cost. Gap 2: most research stops at experiments, no deployable system. My work closes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aim and the central RQ, then the three objectives. End of intro ~4:00. Transition: 'let me walk you through how the system was built.'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this is the whole workflow, not just a model. Feature engineering is the most important step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Real, complex retail data. A representative subset was used for efficiency but the structure mirrors full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groups, 36 features. Stress lags and rolling statistics — they encode demand momentum and are the strongest predictors.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 = time-based split (no leakage). Metrics: MAE interpretable, RMSE punishes big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MAE/RMSE slowly. RF and GB tie; chose RF for robustness. Small train-test gap = no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28-day rolling mean ~73.6% importance. Business takeaway: keep recent sales data clean. Consistent with time-series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no full financial simulation — this is a conceptual estimate from the predictive results + literature. Honesty here is a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75 seconds. Describe the architecture confidently — this is the practical contribution and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genuine industry interest and a planned pilot. Strengthens practical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contributions: methodological (ensembles + feature engineering) and practical (deployable system).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limitations confidently, without apologising — sign of a mature researcher.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one-line takeaway, thank the committee,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demand-forecasting-s1kq.onrender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5120640" cy="512064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840480" cy="384048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003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DEFENSE  ·  MBA, ARTIFICIAL INTELLIGENCE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in Demand Forecasting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Forecasting Accuracy and Reducing Supply Chain Costs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3108960" cy="0"/>
          </a:xfrm>
          <a:prstGeom prst="line">
            <a:avLst/>
          </a:prstGeom>
          <a:noFill/>
          <a:ln w="25400">
            <a:solidFill>
              <a:srgbClr val="12B0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617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Dadash Alakbarov Islam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UNEC Business School  ·  Supervisor: Bahadur Alizada  · 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errors are expensive in both directions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9164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drives inventory, production and logistics.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thin-margin retail, even small errors become large financial losses.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0" y="1691640"/>
            <a:ext cx="7040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2148840"/>
            <a:ext cx="914400" cy="914400"/>
          </a:xfrm>
          <a:prstGeom prst="ellipse">
            <a:avLst/>
          </a:prstGeom>
          <a:solidFill>
            <a:srgbClr val="E8A33D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23865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0" y="20756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Over-forecasting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035040" y="2560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inventory — capital tied up, higher holding and warehousing costs.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72000" y="3931920"/>
            <a:ext cx="7040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64608" y="4389120"/>
            <a:ext cx="914400" cy="91440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462686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4315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Under-forecasting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6035040" y="48006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on the shelf — lost sales and damaged customer trust.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gaps in the existing research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2240280"/>
            <a:ext cx="868680" cy="8686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78408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rarely linked to cost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78408" y="43434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optimise forecasting accuracy as a goal in itself — and stop short of connecting it to real supply chain cost reduction.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240280"/>
            <a:ext cx="868680" cy="8686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62940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rarely become systems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9400" y="43434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usually ends at comparing models in an experiment. Very few deliver a complete, deployable tool that can run in real operations.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RESEARCH QUESTION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it, evaluate it, and link accuracy to cost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2128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AI techniques be applied to demand forecasting to improve accuracy and reduce supply chain costs?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66928" y="342900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3776472"/>
            <a:ext cx="841248" cy="84124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92" y="3995196"/>
            <a:ext cx="403799" cy="4037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4727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14400" y="5001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&amp; compare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14400" y="5404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benchmark several machine-learning models on real retail data.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288536" y="342900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08576" y="3776472"/>
            <a:ext cx="841248" cy="84124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300" y="3995196"/>
            <a:ext cx="403799" cy="4037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36008" y="4727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636008" y="5001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interpret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636008" y="5404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established accuracy metrics and analyse which features drive demand.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010144" y="3429000"/>
            <a:ext cx="34747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330184" y="3776472"/>
            <a:ext cx="841248" cy="84124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908" y="3995196"/>
            <a:ext cx="403799" cy="40379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57616" y="4727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357616" y="5001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357616" y="5404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best model as a production-ready API and interactive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pipeline from raw data to deployment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468880"/>
            <a:ext cx="1584960" cy="2286000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8784" y="2761488"/>
            <a:ext cx="841248" cy="84124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08" y="2980212"/>
            <a:ext cx="403799" cy="4037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" y="3749040"/>
            <a:ext cx="149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12648" y="4133088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M5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115312" y="2926080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2462784" y="2468880"/>
            <a:ext cx="1584960" cy="2286000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34640" y="2761488"/>
            <a:ext cx="841248" cy="841248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364" y="2980212"/>
            <a:ext cx="403799" cy="4037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08504" y="3749040"/>
            <a:ext cx="149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2508504" y="4133088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reshape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011168" y="2926080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4358640" y="2468880"/>
            <a:ext cx="1584960" cy="2286000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30496" y="2761488"/>
            <a:ext cx="841248" cy="84124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220" y="2980212"/>
            <a:ext cx="403799" cy="4037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04360" y="3749040"/>
            <a:ext cx="149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4404360" y="4133088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engineered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907024" y="2926080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6254496" y="2468880"/>
            <a:ext cx="1584960" cy="2286000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6352" y="2761488"/>
            <a:ext cx="841248" cy="841248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5076" y="2980212"/>
            <a:ext cx="403799" cy="4037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0216" y="3749040"/>
            <a:ext cx="149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6300216" y="4133088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802880" y="2926080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3"/>
          <p:cNvSpPr/>
          <p:nvPr/>
        </p:nvSpPr>
        <p:spPr>
          <a:xfrm>
            <a:off x="8150352" y="2468880"/>
            <a:ext cx="1584960" cy="2286000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22208" y="2761488"/>
            <a:ext cx="841248" cy="84124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0932" y="2980212"/>
            <a:ext cx="403799" cy="40379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96072" y="3749040"/>
            <a:ext cx="149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8196072" y="4133088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9698736" y="2926080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28"/>
          <p:cNvSpPr/>
          <p:nvPr/>
        </p:nvSpPr>
        <p:spPr>
          <a:xfrm>
            <a:off x="10046208" y="2468880"/>
            <a:ext cx="1584960" cy="2286000"/>
          </a:xfrm>
          <a:prstGeom prst="roundRect">
            <a:avLst>
              <a:gd name="adj" fmla="val 519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0418064" y="2761488"/>
            <a:ext cx="841248" cy="841248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6788" y="2980212"/>
            <a:ext cx="403799" cy="403799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91928" y="3749040"/>
            <a:ext cx="149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50" dirty="0"/>
          </a:p>
        </p:txBody>
      </p:sp>
      <p:sp>
        <p:nvSpPr>
          <p:cNvPr id="40" name="Text 31"/>
          <p:cNvSpPr/>
          <p:nvPr/>
        </p:nvSpPr>
        <p:spPr>
          <a:xfrm>
            <a:off x="10091928" y="4133088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dashboard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566928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Quantitative, applied design — every stage reflects a real retail forecasting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 M5 — a real, industry-standard benchmark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58368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55848" y="19659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47288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47288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· 3 US states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44768" y="19659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36208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~1,900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36208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(≈5 years)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933688" y="19659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25128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6.8M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025128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price records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43434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400" y="4663440"/>
            <a:ext cx="914400" cy="91440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4901184"/>
            <a:ext cx="438912" cy="4389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03120" y="457200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raw sources — sales, calendar and pricing — were cleaned, merged on shared keys, missing prices imputed, and reshaped into long format: one row per product, store and day.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sales into 36 learnable signals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75688"/>
            <a:ext cx="713232" cy="713232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00" y="2261128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09928" y="20939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709928" y="24963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week, month, week, weekend flags — seasonality.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98264" y="1783080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54296" y="2075688"/>
            <a:ext cx="713232" cy="713232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736" y="226112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41264" y="20939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541264" y="24963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1, 7, 14, 28 days ago — recent demand momentum.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0" y="1783080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85632" y="2075688"/>
            <a:ext cx="713232" cy="713232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072" y="2261128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72600" y="20939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372600" y="24963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&amp; std over 7/14/28 days — trend and volatility.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66928" y="3685032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3977640"/>
            <a:ext cx="713232" cy="713232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00" y="4163080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09928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709928" y="43982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and price changes — price sensitivity.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398264" y="3685032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54296" y="3977640"/>
            <a:ext cx="713232" cy="713232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736" y="4163080"/>
            <a:ext cx="342351" cy="34235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41264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541264" y="43982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Holidays, sporting, cultural and religious events.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229600" y="3685032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85632" y="3977640"/>
            <a:ext cx="713232" cy="713232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1072" y="4163080"/>
            <a:ext cx="342351" cy="34235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372600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372600" y="43982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benefit days — a strong US retail demand driver.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66928" y="5532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as good as its inputs — feature engineering is the decisive accuracy driver.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VALIDATION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spanning a range of complexity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" y="24963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29169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baseline. Captures only linear relationships.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88536" y="178308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62856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62856" y="24963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62856" y="29169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Strong on non-linear patterns; stable.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10144" y="178308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84464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284464" y="24963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84464" y="29169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 that corrects its own errors. Highly accurate.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4069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68680" y="4370832"/>
            <a:ext cx="777240" cy="77724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572914"/>
            <a:ext cx="373075" cy="3730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7452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80/20 split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874520" y="47365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past, test on the future — prevents data leakage and mirrors real forecasting.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236208" y="4069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537960" y="4370832"/>
            <a:ext cx="777240" cy="77724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042" y="4572914"/>
            <a:ext cx="373075" cy="37307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4380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&amp; RMSE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543800" y="47365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average error in real units (interpretable). RMSE penalises large errors more heavily.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 win — Random Forest selected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5852160" cy="22037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66928" y="4160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66928" y="44348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lowest test MAE, and more robust and easier to maintain than Gradient Boosting.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720840" y="1874520"/>
            <a:ext cx="4892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6976872" y="2148840"/>
            <a:ext cx="658368" cy="65836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048" y="2320016"/>
            <a:ext cx="316017" cy="3160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18120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 beat linear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818120" y="24414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ensembles outperform Linear Regression — retail demand is non-linear.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720840" y="3246120"/>
            <a:ext cx="4892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976872" y="3520440"/>
            <a:ext cx="658368" cy="65836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048" y="3691616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1812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overfitting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7818120" y="38130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error gap is small for all models — they generalise well.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720840" y="4617720"/>
            <a:ext cx="4892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976872" y="4892040"/>
            <a:ext cx="658368" cy="65836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048" y="5063216"/>
            <a:ext cx="316017" cy="3160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18120" y="4818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AND robust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7818120" y="51846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is not just the most accurate — it is operationally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demand history dominates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66928" y="1874520"/>
          <a:ext cx="6400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269480" y="1874520"/>
            <a:ext cx="4343400" cy="3840480"/>
          </a:xfrm>
          <a:prstGeom prst="roundRect">
            <a:avLst>
              <a:gd name="adj" fmla="val 2143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98080" y="2240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2B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73.6%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749808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importance comes from the 28-day rolling mean of sales.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98080" y="41605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and short-term rolling averages follow. Past demand is the single best predictor of future demand — so data quality on recent sales matters most.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accuracy to supply chain cost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4023360" cy="4114800"/>
          </a:xfrm>
          <a:prstGeom prst="roundRect">
            <a:avLst>
              <a:gd name="adj" fmla="val 2045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ESTIMATE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41248" y="384048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reduction in inventory-related supply chain costs in large retail operations.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892040" y="1828800"/>
            <a:ext cx="67208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2139696"/>
            <a:ext cx="658368" cy="65836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536" y="2310872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0" y="20482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accuracy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035040" y="243230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MAE (≈1.8 units) means demand is predicted with small deviation.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892040" y="3246120"/>
            <a:ext cx="67208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66360" y="3557016"/>
            <a:ext cx="658368" cy="65836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536" y="3728192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34655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overstocks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035040" y="384962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holding and warehousing costs from tighter inventory planning.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892040" y="4663440"/>
            <a:ext cx="67208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66360" y="4974336"/>
            <a:ext cx="658368" cy="658368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7536" y="5145512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35040" y="48828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stockouts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035040" y="526694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lost sales and a more reliable shelf for customers.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PRODUCT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deployed, end-to-end forecasting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47088" y="2286000"/>
            <a:ext cx="914400" cy="91440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5237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model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49808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serialised and ready for inference.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059936" y="283464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4288536" y="192024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68696" y="2286000"/>
            <a:ext cx="914400" cy="914400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52374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1416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REST API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471416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real-time predictions with sub-second responses.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81544" y="283464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8010144" y="192024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90304" y="2286000"/>
            <a:ext cx="914400" cy="91440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48" y="25237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93024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193024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product, store, price, date — get an instant forecast.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4786884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47589" y="4680035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the gap identified at the start — the bridge between forecasting theory and real operational practice.</a:t>
            </a:r>
            <a:endParaRPr lang="en-US" sz="165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3F8F4AAF-3792-487C-92F9-7B54701C86D6}"/>
              </a:ext>
            </a:extLst>
          </p:cNvPr>
          <p:cNvSpPr/>
          <p:nvPr/>
        </p:nvSpPr>
        <p:spPr>
          <a:xfrm>
            <a:off x="516636" y="57607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  <p:txBody>
          <a:bodyPr/>
          <a:lstStyle/>
          <a:p>
            <a:pPr algn="ctr"/>
            <a:r>
              <a:rPr lang="en-US" sz="1650" i="1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https://demand-forecasting-s1kq.onrender.com/</a:t>
            </a:r>
            <a:endParaRPr lang="ru-RU" sz="1650" i="1" dirty="0">
              <a:solidFill>
                <a:srgbClr val="E3ED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interest from a Baku retailer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48640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43230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 Premium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9659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retail chain · Baku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14400" y="32918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 piloting the tool on real data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share anonymised historical sales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to discuss data terms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allocate IT specialists for integration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236208" y="1874520"/>
            <a:ext cx="5394960" cy="4069080"/>
          </a:xfrm>
          <a:prstGeom prst="roundRect">
            <a:avLst>
              <a:gd name="adj" fmla="val 2022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379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planned pilot moves the system beyond an academic experiment toward operational use — validating both the problem and the proposed solution in the local market.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53796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scoping meeting to define the pilot data and success metrics.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thesis adds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2286000"/>
            <a:ext cx="960120" cy="96012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39" y="253563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Methodological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78408" y="40690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 that ensemble ML outperforms traditional linear methods for retail demand, and that time-series feature engineering — lags and rolling statistics — is decisive for accuracy.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17920" y="18745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286000"/>
            <a:ext cx="960120" cy="960120"/>
          </a:xfrm>
          <a:prstGeom prst="ellipse">
            <a:avLst/>
          </a:prstGeom>
          <a:solidFill>
            <a:srgbClr val="0F2A47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031" y="253563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6629400" y="40690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deployable, end-to-end forecasting system — not just a model, but a working decision-support tool ready for real operational testing.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76656" cy="676656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678851"/>
            <a:ext cx="324795" cy="32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E8A33D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239664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32461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subset of the data was used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internal variables; external factors excluded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is conceptual, not a full simulation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but not yet integrated with ERP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36208" y="1874520"/>
            <a:ext cx="5394960" cy="4069080"/>
          </a:xfrm>
          <a:prstGeom prst="roundRect">
            <a:avLst>
              <a:gd name="adj" fmla="val 2022"/>
            </a:avLst>
          </a:prstGeom>
          <a:solidFill>
            <a:srgbClr val="0F2A47"/>
          </a:solidFill>
          <a:ln w="12700">
            <a:solidFill>
              <a:srgbClr val="D8E2EC"/>
            </a:solidFill>
            <a:prstDash val="solid"/>
          </a:ln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2194560"/>
            <a:ext cx="777240" cy="77724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042" y="239664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583680" y="32461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(LSTM, transformers)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external data sources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interpretability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3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enterprise / ERP integration &amp; live pilot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754880" cy="475488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828800"/>
            <a:ext cx="4206240" cy="420624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868680" cy="868680"/>
          </a:xfrm>
          <a:prstGeom prst="ellipse">
            <a:avLst/>
          </a:prstGeom>
          <a:solidFill>
            <a:srgbClr val="12B0A0"/>
          </a:solidFill>
          <a:ln/>
          <a:effectLst>
            <a:outerShdw blurRad="114300" dist="38100" dir="5400000" algn="bl" rotWithShape="0">
              <a:srgbClr val="0B1B2E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0945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demand forecasting can meaningfully improve accuracy and support real cost reduction in modern supply chains.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68680" y="4114800"/>
            <a:ext cx="3108960" cy="0"/>
          </a:xfrm>
          <a:prstGeom prst="line">
            <a:avLst/>
          </a:prstGeom>
          <a:noFill/>
          <a:ln w="25400">
            <a:solidFill>
              <a:srgbClr val="12B0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be glad to answer your questions.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Dadash Alakbarov Islam  ·  UNEC Business School  ·  MBA, Artificial Intelligence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1449</Words>
  <Application>Microsoft Office PowerPoint</Application>
  <PresentationFormat>Widescreen</PresentationFormat>
  <Paragraphs>212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Demand Forecasting</dc:title>
  <dc:subject>PptxGenJS Presentation</dc:subject>
  <dc:creator>Dadash Alakbarov</dc:creator>
  <cp:lastModifiedBy>Dadash Alakbarov</cp:lastModifiedBy>
  <cp:revision>3</cp:revision>
  <dcterms:created xsi:type="dcterms:W3CDTF">2026-06-23T12:51:54Z</dcterms:created>
  <dcterms:modified xsi:type="dcterms:W3CDTF">2026-06-23T14:26:31Z</dcterms:modified>
</cp:coreProperties>
</file>